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491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85" y="0"/>
            <a:ext cx="914400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030490"/>
            <a:ext cx="9144000" cy="2125980"/>
          </a:xfrm>
          <a:prstGeom prst="rect">
            <a:avLst/>
          </a:prstGeom>
          <a:solidFill>
            <a:srgbClr val="0D3880"/>
          </a:solidFill>
          <a:ln w="12700">
            <a:solidFill>
              <a:srgbClr val="0D38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874520"/>
            <a:ext cx="9144000" cy="6400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E-WATER MANAGEMENT SYSTEM (EWMS)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CEEFB"/>
                </a:solidFill>
              </a:rPr>
              <a:t>WASAC — Water and Sanitation Corporation, Kigali, Rwanda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1272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EEFB"/>
                </a:solidFill>
              </a:rPr>
              <a:t>Phase 1 — System Analysis and Design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5844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Student: Alvin MUNYAMBO  </a:t>
            </a:r>
            <a:r>
              <a:rPr lang="en-US" sz="1300" dirty="0" smtClean="0">
                <a:solidFill>
                  <a:srgbClr val="FFFFFF"/>
                </a:solidFill>
              </a:rPr>
              <a:t>Student Id: 27146 </a:t>
            </a:r>
            <a:r>
              <a:rPr lang="en-US" sz="1300" dirty="0">
                <a:solidFill>
                  <a:srgbClr val="FFFFFF"/>
                </a:solidFill>
              </a:rPr>
              <a:t>|   Instructor: RUTARINDWA JEAN PIERRE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ACCEE"/>
                </a:solidFill>
              </a:rPr>
              <a:t>Course: Best Programming Practices and Design Patterns  |  AUCA </a:t>
            </a:r>
            <a:r>
              <a:rPr lang="en-US" sz="1100" i="1" dirty="0" smtClean="0">
                <a:solidFill>
                  <a:srgbClr val="AACCEE"/>
                </a:solidFill>
              </a:rPr>
              <a:t>2025–2026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0" cy="804672"/>
          </a:xfrm>
          <a:prstGeom prst="rect">
            <a:avLst/>
          </a:prstGeom>
          <a:solidFill>
            <a:srgbClr val="0D3880"/>
          </a:solidFill>
          <a:ln w="12700">
            <a:solidFill>
              <a:srgbClr val="0D38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1.1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3120" y="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Topic and Case Study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804672"/>
            <a:ext cx="9144000" cy="0"/>
          </a:xfrm>
          <a:prstGeom prst="line">
            <a:avLst/>
          </a:prstGeom>
          <a:noFill/>
          <a:ln w="38100">
            <a:solidFill>
              <a:srgbClr val="0069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60120"/>
            <a:ext cx="8595360" cy="9326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60120"/>
            <a:ext cx="1645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EEFB"/>
                </a:solidFill>
              </a:rPr>
              <a:t>TOPIC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65960" y="960120"/>
            <a:ext cx="6766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E-Water Management System (EWMS)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74320" y="2057400"/>
            <a:ext cx="8595360" cy="93268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057400"/>
            <a:ext cx="1645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EECC"/>
                </a:solidFill>
              </a:rPr>
              <a:t>CASE STUDY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2057400"/>
            <a:ext cx="6766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WASAC — Water and Sanitation Corporation, Kigali, Rwanda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4320" y="3127248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WASAC is Rwanda's national water utility. It produces, treats, and distributes clean water to millions of households and businesses. The EWMS was built to fully digitize WASAC's operations — replacing paper forms, manual billing, and in-person payments with a modern web-based digital platform.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0" cy="804672"/>
          </a:xfrm>
          <a:prstGeom prst="rect">
            <a:avLst/>
          </a:prstGeom>
          <a:solidFill>
            <a:srgbClr val="0D3880"/>
          </a:solidFill>
          <a:ln w="12700">
            <a:solidFill>
              <a:srgbClr val="0D38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1.2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3120" y="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Functional Diagram — Internal Working of WASAC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804672"/>
            <a:ext cx="9144000" cy="0"/>
          </a:xfrm>
          <a:prstGeom prst="line">
            <a:avLst/>
          </a:prstGeom>
          <a:noFill/>
          <a:ln w="38100">
            <a:solidFill>
              <a:srgbClr val="0069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896112"/>
            <a:ext cx="2103120" cy="1965960"/>
          </a:xfrm>
          <a:prstGeom prst="rect">
            <a:avLst/>
          </a:prstGeom>
          <a:solidFill>
            <a:srgbClr val="1565C0"/>
          </a:solidFill>
          <a:ln w="12700">
            <a:solidFill>
              <a:srgbClr val="0D38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8961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Field Dept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" y="1243584"/>
            <a:ext cx="20116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DCEEFB"/>
                </a:solidFill>
              </a:rPr>
              <a:t>• Read meters monthly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DCEEFB"/>
                </a:solidFill>
              </a:rPr>
              <a:t>• Record usage (litres)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DCEEFB"/>
                </a:solidFill>
              </a:rPr>
              <a:t>• Report meter issues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34440" y="2862072"/>
            <a:ext cx="0" cy="320040"/>
          </a:xfrm>
          <a:prstGeom prst="line">
            <a:avLst/>
          </a:prstGeom>
          <a:noFill/>
          <a:ln w="25400">
            <a:solidFill>
              <a:srgbClr val="0069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896112"/>
            <a:ext cx="2103120" cy="1965960"/>
          </a:xfrm>
          <a:prstGeom prst="rect">
            <a:avLst/>
          </a:prstGeom>
          <a:solidFill>
            <a:srgbClr val="1565C0"/>
          </a:solidFill>
          <a:ln w="12700">
            <a:solidFill>
              <a:srgbClr val="0D38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8961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Billing Dept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8880" y="1243584"/>
            <a:ext cx="20116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DCEEFB"/>
                </a:solidFill>
              </a:rPr>
              <a:t>• Generate monthly bills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DCEEFB"/>
                </a:solidFill>
              </a:rPr>
              <a:t>• Send invoices to clients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DCEEFB"/>
                </a:solidFill>
              </a:rPr>
              <a:t>• Track overdue accounts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0" y="2862072"/>
            <a:ext cx="0" cy="320040"/>
          </a:xfrm>
          <a:prstGeom prst="line">
            <a:avLst/>
          </a:prstGeom>
          <a:noFill/>
          <a:ln w="25400">
            <a:solidFill>
              <a:srgbClr val="0069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896112"/>
            <a:ext cx="2103120" cy="1965960"/>
          </a:xfrm>
          <a:prstGeom prst="rect">
            <a:avLst/>
          </a:prstGeom>
          <a:solidFill>
            <a:srgbClr val="1565C0"/>
          </a:solidFill>
          <a:ln w="12700">
            <a:solidFill>
              <a:srgbClr val="0D38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8961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Finance Dept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1243584"/>
            <a:ext cx="20116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DCEEFB"/>
                </a:solidFill>
              </a:rPr>
              <a:t>• Collect MoMo payments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DCEEFB"/>
                </a:solidFill>
              </a:rPr>
              <a:t>• Reconcile accounts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DCEEFB"/>
                </a:solidFill>
              </a:rPr>
              <a:t>• Revenue reporting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715000" y="2862072"/>
            <a:ext cx="0" cy="320040"/>
          </a:xfrm>
          <a:prstGeom prst="line">
            <a:avLst/>
          </a:prstGeom>
          <a:noFill/>
          <a:ln w="25400">
            <a:solidFill>
              <a:srgbClr val="0069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896112"/>
            <a:ext cx="2103120" cy="1965960"/>
          </a:xfrm>
          <a:prstGeom prst="rect">
            <a:avLst/>
          </a:prstGeom>
          <a:solidFill>
            <a:srgbClr val="1565C0"/>
          </a:solidFill>
          <a:ln w="12700">
            <a:solidFill>
              <a:srgbClr val="0D38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8961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Customer Svc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9440" y="1243584"/>
            <a:ext cx="20116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DCEEFB"/>
                </a:solidFill>
              </a:rPr>
              <a:t>• Handle client queries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DCEEFB"/>
                </a:solidFill>
              </a:rPr>
              <a:t>• Manage activations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DCEEFB"/>
                </a:solidFill>
              </a:rPr>
              <a:t>• Process complaints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955280" y="2862072"/>
            <a:ext cx="0" cy="320040"/>
          </a:xfrm>
          <a:prstGeom prst="line">
            <a:avLst/>
          </a:prstGeom>
          <a:noFill/>
          <a:ln w="25400">
            <a:solidFill>
              <a:srgbClr val="0069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3182112"/>
            <a:ext cx="8778240" cy="1572768"/>
          </a:xfrm>
          <a:prstGeom prst="rect">
            <a:avLst/>
          </a:prstGeom>
          <a:solidFill>
            <a:srgbClr val="0D3880"/>
          </a:solidFill>
          <a:ln w="25400">
            <a:solidFill>
              <a:srgbClr val="0069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" y="3182112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EWMS — Centralized Digital Platform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82880" y="351129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EEFB"/>
                </a:solidFill>
              </a:rPr>
              <a:t>Admin Portal (localhost:8090)  |  Node.js REST API (:5000)  |  MongoDB Database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" y="378561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ACCEE"/>
                </a:solidFill>
              </a:rPr>
              <a:t>Add clients • Record readings • Generate bills • Process payments • View dashboards • Suspend accounts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0" cy="804672"/>
          </a:xfrm>
          <a:prstGeom prst="rect">
            <a:avLst/>
          </a:prstGeom>
          <a:solidFill>
            <a:srgbClr val="0D3880"/>
          </a:solidFill>
          <a:ln w="12700">
            <a:solidFill>
              <a:srgbClr val="0D38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1.3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3120" y="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Problem Statement — 6 Challenges Faced by WASAC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804672"/>
            <a:ext cx="9144000" cy="0"/>
          </a:xfrm>
          <a:prstGeom prst="line">
            <a:avLst/>
          </a:prstGeom>
          <a:noFill/>
          <a:ln w="38100">
            <a:solidFill>
              <a:srgbClr val="0069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932688"/>
            <a:ext cx="429768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932688"/>
            <a:ext cx="256032" cy="11430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987552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565C0"/>
                </a:solidFill>
              </a:rPr>
              <a:t>1. Manual Meter Readings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389888"/>
            <a:ext cx="3895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12121"/>
                </a:solidFill>
              </a:rPr>
              <a:t>Paper forms cause transcription errors and lost data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" y="2194560"/>
            <a:ext cx="429768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2194560"/>
            <a:ext cx="256032" cy="11430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249424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565C0"/>
                </a:solidFill>
              </a:rPr>
              <a:t>2. Paper-Based Billing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651760"/>
            <a:ext cx="3895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12121"/>
                </a:solidFill>
              </a:rPr>
              <a:t>6 to 8 week cycles causing disputes and late invoices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" y="3456432"/>
            <a:ext cx="429768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" y="3456432"/>
            <a:ext cx="256032" cy="11430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11296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565C0"/>
                </a:solidFill>
              </a:rPr>
              <a:t>3. No Real-Time Payments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913632"/>
            <a:ext cx="3895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12121"/>
                </a:solidFill>
              </a:rPr>
              <a:t>MoMo reconciled manually causing accounting errors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932688"/>
            <a:ext cx="429768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932688"/>
            <a:ext cx="256032" cy="11430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987552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565C0"/>
                </a:solidFill>
              </a:rPr>
              <a:t>4. No Client Self-Service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1389888"/>
            <a:ext cx="3895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12121"/>
                </a:solidFill>
              </a:rPr>
              <a:t>Customers queue at office for every simple query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2194560"/>
            <a:ext cx="429768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2194560"/>
            <a:ext cx="256032" cy="11430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249424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565C0"/>
                </a:solidFill>
              </a:rPr>
              <a:t>5. Manual Disconnections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2651760"/>
            <a:ext cx="3895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12121"/>
                </a:solidFill>
              </a:rPr>
              <a:t>Paper memos cause slow suspension and reconnection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3456432"/>
            <a:ext cx="429768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3456432"/>
            <a:ext cx="256032" cy="11430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3511296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565C0"/>
                </a:solidFill>
              </a:rPr>
              <a:t>6. No Analytics Dashboard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3913632"/>
            <a:ext cx="3895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12121"/>
                </a:solidFill>
              </a:rPr>
              <a:t>Management has no real-time visibility into revenue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0" cy="804672"/>
          </a:xfrm>
          <a:prstGeom prst="rect">
            <a:avLst/>
          </a:prstGeom>
          <a:solidFill>
            <a:srgbClr val="0D3880"/>
          </a:solidFill>
          <a:ln w="12700">
            <a:solidFill>
              <a:srgbClr val="0D38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1.4.1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3120" y="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Use Case Diagram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804672"/>
            <a:ext cx="9144000" cy="0"/>
          </a:xfrm>
          <a:prstGeom prst="line">
            <a:avLst/>
          </a:prstGeom>
          <a:noFill/>
          <a:ln w="38100">
            <a:solidFill>
              <a:srgbClr val="00695C"/>
            </a:solidFill>
            <a:prstDash val="solid"/>
          </a:ln>
        </p:spPr>
      </p:sp>
      <p:pic>
        <p:nvPicPr>
          <p:cNvPr id="8" name="Image 0" descr="/home/claude/usecas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0" cy="804672"/>
          </a:xfrm>
          <a:prstGeom prst="rect">
            <a:avLst/>
          </a:prstGeom>
          <a:solidFill>
            <a:srgbClr val="0D3880"/>
          </a:solidFill>
          <a:ln w="12700">
            <a:solidFill>
              <a:srgbClr val="0D38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1.4.1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3120" y="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Use Case Diagram — Actors and Connections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804672"/>
            <a:ext cx="9144000" cy="0"/>
          </a:xfrm>
          <a:prstGeom prst="line">
            <a:avLst/>
          </a:prstGeom>
          <a:noFill/>
          <a:ln w="38100">
            <a:solidFill>
              <a:srgbClr val="0069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896112"/>
            <a:ext cx="4160520" cy="3931920"/>
          </a:xfrm>
          <a:prstGeom prst="rect">
            <a:avLst/>
          </a:prstGeom>
          <a:solidFill>
            <a:srgbClr val="1565C0"/>
          </a:solidFill>
          <a:ln w="12700">
            <a:solidFill>
              <a:srgbClr val="0D38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89611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ADMIN + Field Agent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298448"/>
            <a:ext cx="3977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CEEFB"/>
                </a:solidFill>
              </a:rPr>
              <a:t>• Login / Register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CEEFB"/>
                </a:solidFill>
              </a:rPr>
              <a:t>• Add New Client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CEEFB"/>
                </a:solidFill>
              </a:rPr>
              <a:t>• Add Meter Reading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CEEFB"/>
                </a:solidFill>
              </a:rPr>
              <a:t>• Create Monthly Bill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CEEFB"/>
                </a:solidFill>
              </a:rPr>
              <a:t>• View All Clients, Bills, Meters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CEEFB"/>
                </a:solidFill>
              </a:rPr>
              <a:t>• Mark Bill as Paid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CEEFB"/>
                </a:solidFill>
              </a:rPr>
              <a:t>• Suspend / Reconnect Account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CEEFB"/>
                </a:solidFill>
              </a:rPr>
              <a:t>• View Dashboard Stats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896112"/>
            <a:ext cx="4160520" cy="39319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4D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89611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CLIENT + Finance Officer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98448"/>
            <a:ext cx="3977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CEECC"/>
                </a:solidFill>
              </a:rPr>
              <a:t>• Login / Register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CEECC"/>
                </a:solidFill>
              </a:rPr>
              <a:t>• View Water Usage Chart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CEECC"/>
                </a:solidFill>
              </a:rPr>
              <a:t>• View My Bills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CEECC"/>
                </a:solidFill>
              </a:rPr>
              <a:t>• Pay Bill (MTN MoMo / Airtel)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CEECC"/>
                </a:solidFill>
              </a:rPr>
              <a:t>• View Account Info &amp; Balance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CEECC"/>
                </a:solidFill>
              </a:rPr>
              <a:t>• View Payment Receipt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CEECC"/>
                </a:solidFill>
              </a:rPr>
              <a:t>• Generate Bill Report (Finance)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" y="4828032"/>
            <a:ext cx="8595360" cy="2560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48280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&lt;&lt;include&gt;&gt;: Create Bill always triggers Send Notification  |  &lt;&lt;extend&gt;&gt;: Pay Bill optionally triggers Send Receipt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0" cy="804672"/>
          </a:xfrm>
          <a:prstGeom prst="rect">
            <a:avLst/>
          </a:prstGeom>
          <a:solidFill>
            <a:srgbClr val="0D3880"/>
          </a:solidFill>
          <a:ln w="12700">
            <a:solidFill>
              <a:srgbClr val="0D38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1.4.2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3120" y="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Class Diagram — 5 Core Data Models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804672"/>
            <a:ext cx="9144000" cy="0"/>
          </a:xfrm>
          <a:prstGeom prst="line">
            <a:avLst/>
          </a:prstGeom>
          <a:noFill/>
          <a:ln w="38100">
            <a:solidFill>
              <a:srgbClr val="0069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" y="868680"/>
            <a:ext cx="1920240" cy="1901952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" y="868680"/>
            <a:ext cx="192024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868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USER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8016" y="1161288"/>
            <a:ext cx="184708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212121"/>
                </a:solidFill>
              </a:rPr>
              <a:t>- _id:ObjectId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12121"/>
                </a:solidFill>
              </a:rPr>
              <a:t>- name:String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12121"/>
                </a:solidFill>
              </a:rPr>
              <a:t>- email:String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12121"/>
                </a:solidFill>
              </a:rPr>
              <a:t>- phone:String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12121"/>
                </a:solidFill>
              </a:rPr>
              <a:t>- passwordHash:String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12121"/>
                </a:solidFill>
              </a:rPr>
              <a:t>- meterId:String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12121"/>
                </a:solidFill>
              </a:rPr>
              <a:t>- isActive:Boolean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12121"/>
                </a:solidFill>
              </a:rPr>
              <a:t>- isVerified:Boolean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91440" y="2514600"/>
            <a:ext cx="192024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" y="253288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00695C"/>
                </a:solidFill>
              </a:rPr>
              <a:t>+ comparePassword()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00695C"/>
                </a:solidFill>
              </a:rPr>
              <a:t>+ register()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00695C"/>
                </a:solidFill>
              </a:rPr>
              <a:t>+ login():JWT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337560" y="868680"/>
            <a:ext cx="1920240" cy="1207008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868680"/>
            <a:ext cx="192024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868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ADMIN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74136" y="1161288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212121"/>
                </a:solidFill>
              </a:rPr>
              <a:t>- _id:ObjectId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12121"/>
                </a:solidFill>
              </a:rPr>
              <a:t>- name:String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12121"/>
                </a:solidFill>
              </a:rPr>
              <a:t>- email:String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12121"/>
                </a:solidFill>
              </a:rPr>
              <a:t>- passwordHash:String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12121"/>
                </a:solidFill>
              </a:rPr>
              <a:t>- role:String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337560" y="1819656"/>
            <a:ext cx="192024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74136" y="1837944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00695C"/>
                </a:solidFill>
              </a:rPr>
              <a:t>+ comparePassword()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00695C"/>
                </a:solidFill>
              </a:rPr>
              <a:t>+ login():JWT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91440" y="2880360"/>
            <a:ext cx="192024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" y="2880360"/>
            <a:ext cx="192024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" y="2880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METER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8016" y="3172968"/>
            <a:ext cx="18470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212121"/>
                </a:solidFill>
              </a:rPr>
              <a:t>- _id:ObjectId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12121"/>
                </a:solidFill>
              </a:rPr>
              <a:t>- meterId:String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12121"/>
                </a:solidFill>
              </a:rPr>
              <a:t>- userId:ObjectId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12121"/>
                </a:solidFill>
              </a:rPr>
              <a:t>- isActive:Boolean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12121"/>
                </a:solidFill>
              </a:rPr>
              <a:t>- balance:Number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12121"/>
                </a:solidFill>
              </a:rPr>
              <a:t>- monthlyUsage:Array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91440" y="4343400"/>
            <a:ext cx="192024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016" y="436168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00695C"/>
                </a:solidFill>
              </a:rPr>
              <a:t>+ getUsageHistory()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00695C"/>
                </a:solidFill>
              </a:rPr>
              <a:t>+ updateReading()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337560" y="2212848"/>
            <a:ext cx="1920240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37560" y="2212848"/>
            <a:ext cx="192024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22128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BILL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74136" y="2505456"/>
            <a:ext cx="18470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212121"/>
                </a:solidFill>
              </a:rPr>
              <a:t>- _id:ObjectId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12121"/>
                </a:solidFill>
              </a:rPr>
              <a:t>- userId:ObjectId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12121"/>
                </a:solidFill>
              </a:rPr>
              <a:t>- meterId:String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12121"/>
                </a:solidFill>
              </a:rPr>
              <a:t>- amount:Number(RWF)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12121"/>
                </a:solidFill>
              </a:rPr>
              <a:t>- month:String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12121"/>
                </a:solidFill>
              </a:rPr>
              <a:t>- year:Number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12121"/>
                </a:solidFill>
              </a:rPr>
              <a:t>- dueDate:Date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12121"/>
                </a:solidFill>
              </a:rPr>
              <a:t>- status:Enum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337560" y="3712464"/>
            <a:ext cx="192024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74136" y="3730752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00695C"/>
                </a:solidFill>
              </a:rPr>
              <a:t>+ generateBill()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00695C"/>
                </a:solidFill>
              </a:rPr>
              <a:t>+ markPaid()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583680" y="2697480"/>
            <a:ext cx="23774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0" y="2697480"/>
            <a:ext cx="237744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2697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PAYMENT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20256" y="2990088"/>
            <a:ext cx="23042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212121"/>
                </a:solidFill>
              </a:rPr>
              <a:t>- _id:ObjectId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12121"/>
                </a:solidFill>
              </a:rPr>
              <a:t>- userId:ObjectId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12121"/>
                </a:solidFill>
              </a:rPr>
              <a:t>- billId:ObjectId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12121"/>
                </a:solidFill>
              </a:rPr>
              <a:t>- amount:Number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12121"/>
                </a:solidFill>
              </a:rPr>
              <a:t>- method:momo|airtel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12121"/>
                </a:solidFill>
              </a:rPr>
              <a:t>- phone:String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12121"/>
                </a:solidFill>
              </a:rPr>
              <a:t>- status:Enum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12121"/>
                </a:solidFill>
              </a:rPr>
              <a:t>- reference:String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583680" y="4361688"/>
            <a:ext cx="237744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0256" y="4379976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00695C"/>
                </a:solidFill>
              </a:rPr>
              <a:t>+ processPayment()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00695C"/>
                </a:solidFill>
              </a:rPr>
              <a:t>+ getReference()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051560" y="2770632"/>
            <a:ext cx="0" cy="109728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11680" y="3337560"/>
            <a:ext cx="132588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57800" y="3090672"/>
            <a:ext cx="132588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" y="263347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1565C0"/>
                </a:solidFill>
              </a:rPr>
              <a:t>1 owns 1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194560" y="309067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1565C0"/>
                </a:solidFill>
              </a:rPr>
              <a:t>1..*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376672" y="290779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1565C0"/>
                </a:solidFill>
              </a:rPr>
              <a:t>1 triggers 1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0" cy="804672"/>
          </a:xfrm>
          <a:prstGeom prst="rect">
            <a:avLst/>
          </a:prstGeom>
          <a:solidFill>
            <a:srgbClr val="0D3880"/>
          </a:solidFill>
          <a:ln w="12700">
            <a:solidFill>
              <a:srgbClr val="0D38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1.4.3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3120" y="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Activity Diagram — Bill Payment Flow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804672"/>
            <a:ext cx="9144000" cy="0"/>
          </a:xfrm>
          <a:prstGeom prst="line">
            <a:avLst/>
          </a:prstGeom>
          <a:noFill/>
          <a:ln w="38100">
            <a:solidFill>
              <a:srgbClr val="0069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7320" y="845820"/>
            <a:ext cx="457200" cy="228600"/>
          </a:xfrm>
          <a:prstGeom prst="ellipse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170432"/>
            <a:ext cx="914" cy="201168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371600"/>
            <a:ext cx="155448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0D38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3716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Open EWMS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Portal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45920" y="1755648"/>
            <a:ext cx="914" cy="18288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1938528"/>
            <a:ext cx="155448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0D38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19385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Enter email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&amp; password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45920" y="2322576"/>
            <a:ext cx="914" cy="18288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2505456"/>
            <a:ext cx="1280160" cy="457200"/>
          </a:xfrm>
          <a:prstGeom prst="diamond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50545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Valid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credentials?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645920" y="2962656"/>
            <a:ext cx="914" cy="192024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3154680"/>
            <a:ext cx="155448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0D38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1546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Load dashboard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&amp; bills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45920" y="3538728"/>
            <a:ext cx="914" cy="18288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5840" y="3721608"/>
            <a:ext cx="1280160" cy="457200"/>
          </a:xfrm>
          <a:prstGeom prst="diamond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7216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Has unpaid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bill?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286000" y="3950208"/>
            <a:ext cx="1371600" cy="914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31720" y="37490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212121"/>
                </a:solidFill>
              </a:rPr>
              <a:t>YES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520440" y="3721608"/>
            <a:ext cx="155448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0D38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37216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Show bill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amount &amp; date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74920" y="3950208"/>
            <a:ext cx="548640" cy="914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0" y="3721608"/>
            <a:ext cx="155448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0D38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37216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Select MoMo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or Airtel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040880" y="3950208"/>
            <a:ext cx="548640" cy="914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52360" y="3721608"/>
            <a:ext cx="155448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0D38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52360" y="37216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Enter phone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&amp; Pay Now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229600" y="3154680"/>
            <a:ext cx="914" cy="566928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52360" y="2743200"/>
            <a:ext cx="155448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0D38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52360" y="27432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API creates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Payment record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229600" y="2194560"/>
            <a:ext cx="914" cy="54864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52360" y="1783080"/>
            <a:ext cx="155448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0D38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52360" y="1783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Bill status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→ PAID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229600" y="1261872"/>
            <a:ext cx="914" cy="521208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52360" y="850392"/>
            <a:ext cx="155448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0D38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52360" y="8503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Show EWMS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ref. number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02920" y="2743200"/>
            <a:ext cx="502920" cy="914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2920" y="2743200"/>
            <a:ext cx="914" cy="54864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" y="257860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212121"/>
                </a:solidFill>
              </a:rPr>
              <a:t>NO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720" y="3273552"/>
            <a:ext cx="1005840" cy="301752"/>
          </a:xfrm>
          <a:prstGeom prst="rect">
            <a:avLst/>
          </a:prstGeom>
          <a:solidFill>
            <a:srgbClr val="E65100"/>
          </a:solidFill>
          <a:ln w="12700">
            <a:solidFill>
              <a:srgbClr val="0D38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" y="327355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Invalid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login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3950208"/>
            <a:ext cx="548640" cy="914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" y="3950208"/>
            <a:ext cx="914" cy="530352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" y="3749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212121"/>
                </a:solidFill>
              </a:rPr>
              <a:t>NO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5720" y="4462272"/>
            <a:ext cx="1005840" cy="292608"/>
          </a:xfrm>
          <a:prstGeom prst="rect">
            <a:avLst/>
          </a:prstGeom>
          <a:solidFill>
            <a:srgbClr val="00695C"/>
          </a:solidFill>
          <a:ln w="12700">
            <a:solidFill>
              <a:srgbClr val="0D388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" y="44622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No pending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bills!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001000" y="480060"/>
            <a:ext cx="457200" cy="228600"/>
          </a:xfrm>
          <a:prstGeom prst="ellipse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0" cy="804672"/>
          </a:xfrm>
          <a:prstGeom prst="rect">
            <a:avLst/>
          </a:prstGeom>
          <a:solidFill>
            <a:srgbClr val="0D3880"/>
          </a:solidFill>
          <a:ln w="12700">
            <a:solidFill>
              <a:srgbClr val="0D38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1.4.4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3120" y="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Sequence Diagram — Admin Creates Monthly Bill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804672"/>
            <a:ext cx="9144000" cy="0"/>
          </a:xfrm>
          <a:prstGeom prst="line">
            <a:avLst/>
          </a:prstGeom>
          <a:noFill/>
          <a:ln w="38100">
            <a:solidFill>
              <a:srgbClr val="0069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" y="868680"/>
            <a:ext cx="100584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0D38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" y="8686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Admin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Browser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25880"/>
            <a:ext cx="0" cy="347472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40280" y="868680"/>
            <a:ext cx="100584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0D38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8686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Frontend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JS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0" y="1325880"/>
            <a:ext cx="0" cy="347472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83480" y="868680"/>
            <a:ext cx="100584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0D38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8686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Node.js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0" y="1325880"/>
            <a:ext cx="0" cy="347472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3800" y="868680"/>
            <a:ext cx="100584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0D38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43800" y="8686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MongoDB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46720" y="1325880"/>
            <a:ext cx="0" cy="347472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1508760"/>
            <a:ext cx="219456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" y="1325880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12121"/>
                </a:solidFill>
              </a:rPr>
              <a:t>1. Open Bills page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743200" y="1828800"/>
            <a:ext cx="274320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79776" y="1645920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12121"/>
                </a:solidFill>
              </a:rPr>
              <a:t>2. GET /admin/bills + JWT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486400" y="2148840"/>
            <a:ext cx="256032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22976" y="196596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12121"/>
                </a:solidFill>
              </a:rPr>
              <a:t>3. Bill.find()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486400" y="2468880"/>
            <a:ext cx="2560320" cy="0"/>
          </a:xfrm>
          <a:prstGeom prst="line">
            <a:avLst/>
          </a:prstGeom>
          <a:noFill/>
          <a:ln w="19050">
            <a:solidFill>
              <a:srgbClr val="0069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22976" y="228600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00695C"/>
                </a:solidFill>
              </a:rPr>
              <a:t>4. [{bills}]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743200" y="2788920"/>
            <a:ext cx="2743200" cy="0"/>
          </a:xfrm>
          <a:prstGeom prst="line">
            <a:avLst/>
          </a:prstGeom>
          <a:noFill/>
          <a:ln w="19050">
            <a:solidFill>
              <a:srgbClr val="0069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79776" y="2606040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00695C"/>
                </a:solidFill>
              </a:rPr>
              <a:t>5. 200 OK + bills array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48640" y="3108960"/>
            <a:ext cx="2194560" cy="0"/>
          </a:xfrm>
          <a:prstGeom prst="line">
            <a:avLst/>
          </a:prstGeom>
          <a:noFill/>
          <a:ln w="19050">
            <a:solidFill>
              <a:srgbClr val="0069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" y="2926080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00695C"/>
                </a:solidFill>
              </a:rPr>
              <a:t>6. Render bills table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48640" y="3429000"/>
            <a:ext cx="219456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" y="3246120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12121"/>
                </a:solidFill>
              </a:rPr>
              <a:t>7. Fill &amp; submit Create Bill form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743200" y="3749040"/>
            <a:ext cx="274320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79776" y="3566160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12121"/>
                </a:solidFill>
              </a:rPr>
              <a:t>8. POST /admin/create-bill {data}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486400" y="4069080"/>
            <a:ext cx="256032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22976" y="388620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12121"/>
                </a:solidFill>
              </a:rPr>
              <a:t>9. Bill.create()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486400" y="4389120"/>
            <a:ext cx="2560320" cy="0"/>
          </a:xfrm>
          <a:prstGeom prst="line">
            <a:avLst/>
          </a:prstGeom>
          <a:noFill/>
          <a:ln w="19050">
            <a:solidFill>
              <a:srgbClr val="0069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22976" y="420624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00695C"/>
                </a:solidFill>
              </a:rPr>
              <a:t>10. {bill saved}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743200" y="4572000"/>
            <a:ext cx="2743200" cy="0"/>
          </a:xfrm>
          <a:prstGeom prst="line">
            <a:avLst/>
          </a:prstGeom>
          <a:noFill/>
          <a:ln w="19050">
            <a:solidFill>
              <a:srgbClr val="0069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79776" y="4389120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00695C"/>
                </a:solidFill>
              </a:rPr>
              <a:t>11. 201 Created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48640" y="4709160"/>
            <a:ext cx="2194560" cy="0"/>
          </a:xfrm>
          <a:prstGeom prst="line">
            <a:avLst/>
          </a:prstGeom>
          <a:noFill/>
          <a:ln w="19050">
            <a:solidFill>
              <a:srgbClr val="0069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5216" y="4526280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00695C"/>
                </a:solidFill>
              </a:rPr>
              <a:t>12. Show success + refresh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0" cy="804672"/>
          </a:xfrm>
          <a:prstGeom prst="rect">
            <a:avLst/>
          </a:prstGeom>
          <a:solidFill>
            <a:srgbClr val="0D3880"/>
          </a:solidFill>
          <a:ln w="12700">
            <a:solidFill>
              <a:srgbClr val="0D38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1.4.5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3120" y="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Component Diagram — 3-Tier Docker Architecture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804672"/>
            <a:ext cx="9144000" cy="0"/>
          </a:xfrm>
          <a:prstGeom prst="line">
            <a:avLst/>
          </a:prstGeom>
          <a:noFill/>
          <a:ln w="38100">
            <a:solidFill>
              <a:srgbClr val="0069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868680"/>
            <a:ext cx="8778240" cy="3931920"/>
          </a:xfrm>
          <a:prstGeom prst="rect">
            <a:avLst/>
          </a:prstGeom>
          <a:solidFill>
            <a:srgbClr val="EEF4FF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86868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1565C0"/>
                </a:solidFill>
              </a:rPr>
              <a:t>Docker Network: ewms_net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188720"/>
            <a:ext cx="2377440" cy="3364992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188720"/>
            <a:ext cx="237744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FRONTEND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Nginx :80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localhost:8090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1691640"/>
            <a:ext cx="228600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pages/login.html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pages/register.html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pages/dashboard.html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pages/admin-dash.html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js/auth.js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js/dashboard.js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js/admin.js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749040" y="1188720"/>
            <a:ext cx="2560320" cy="3364992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1188720"/>
            <a:ext cx="256032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BACKEND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Node.js :5000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localhost:5000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794760" y="1691640"/>
            <a:ext cx="246888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routes/auth.js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routes/meters.js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routes/bills.js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routes/payments.js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routes/admin.js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models/User.js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models/Meter.js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middleware/auth.js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949440" y="1188720"/>
            <a:ext cx="1691640" cy="3364992"/>
          </a:xfrm>
          <a:prstGeom prst="rect">
            <a:avLst/>
          </a:prstGeom>
          <a:solidFill>
            <a:srgbClr val="FFFFFF"/>
          </a:solidFill>
          <a:ln w="19050">
            <a:solidFill>
              <a:srgbClr val="0069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9440" y="1188720"/>
            <a:ext cx="1691640" cy="4572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11887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MONGODB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mongo:27017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Internal only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995160" y="1691640"/>
            <a:ext cx="160020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users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admins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meters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bills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payments</a:t>
            </a:r>
            <a:endParaRPr lang="en-US" sz="800" dirty="0"/>
          </a:p>
          <a:p>
            <a:pPr marL="0" indent="0" algn="l">
              <a:buNone/>
            </a:pP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Volume: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mongo_data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0" y="2880360"/>
            <a:ext cx="1005840" cy="0"/>
          </a:xfrm>
          <a:prstGeom prst="line">
            <a:avLst/>
          </a:prstGeom>
          <a:noFill/>
          <a:ln w="25400">
            <a:solidFill>
              <a:srgbClr val="0069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26974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695C"/>
                </a:solidFill>
              </a:rPr>
              <a:t>HTTP/JSON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309360" y="2880360"/>
            <a:ext cx="640080" cy="0"/>
          </a:xfrm>
          <a:prstGeom prst="line">
            <a:avLst/>
          </a:prstGeom>
          <a:noFill/>
          <a:ln w="25400">
            <a:solidFill>
              <a:srgbClr val="0069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26974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695C"/>
                </a:solidFill>
              </a:rPr>
              <a:t>Mongoose ORM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081528"/>
            <a:ext cx="9144000" cy="2125980"/>
          </a:xfrm>
          <a:prstGeom prst="rect">
            <a:avLst/>
          </a:prstGeom>
          <a:solidFill>
            <a:srgbClr val="0D3880"/>
          </a:solidFill>
          <a:ln w="12700">
            <a:solidFill>
              <a:srgbClr val="0D38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874520"/>
            <a:ext cx="9144000" cy="6400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EEFB"/>
                </a:solidFill>
              </a:rPr>
              <a:t>PHASE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Software Test Plan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18105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0" cy="804672"/>
          </a:xfrm>
          <a:prstGeom prst="rect">
            <a:avLst/>
          </a:prstGeom>
          <a:solidFill>
            <a:srgbClr val="0D3880"/>
          </a:solidFill>
          <a:ln w="12700">
            <a:solidFill>
              <a:srgbClr val="0D38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4.1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3120" y="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Testing Goals — Aligned with System Requirements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804672"/>
            <a:ext cx="9144000" cy="0"/>
          </a:xfrm>
          <a:prstGeom prst="line">
            <a:avLst/>
          </a:prstGeom>
          <a:noFill/>
          <a:ln w="38100">
            <a:solidFill>
              <a:srgbClr val="0069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96112"/>
            <a:ext cx="859536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9611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All testing goals are directly aligned with EWMS system requirements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389888"/>
            <a:ext cx="4160520" cy="749808"/>
          </a:xfrm>
          <a:prstGeom prst="rect">
            <a:avLst/>
          </a:prstGeom>
          <a:solidFill>
            <a:srgbClr val="DCEEFB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389888"/>
            <a:ext cx="256032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389888"/>
            <a:ext cx="256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1389888"/>
            <a:ext cx="3767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Verify that client registration creates a new account AND a linked meter in the database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231136"/>
            <a:ext cx="4160520" cy="749808"/>
          </a:xfrm>
          <a:prstGeom prst="rect">
            <a:avLst/>
          </a:prstGeom>
          <a:solidFill>
            <a:srgbClr val="E0F2F1"/>
          </a:solidFill>
          <a:ln w="19050">
            <a:solidFill>
              <a:srgbClr val="0069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31136"/>
            <a:ext cx="256032" cy="74980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231136"/>
            <a:ext cx="256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231136"/>
            <a:ext cx="3767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Confirm login correctly rejects wrong passwords and blocks suspended accounts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3072384"/>
            <a:ext cx="4160520" cy="749808"/>
          </a:xfrm>
          <a:prstGeom prst="rect">
            <a:avLst/>
          </a:prstGeom>
          <a:solidFill>
            <a:srgbClr val="DCEEFB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072384"/>
            <a:ext cx="256032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072384"/>
            <a:ext cx="256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3072384"/>
            <a:ext cx="3767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Ensure ONLY admin-role users can access admin routes — clients must be blocked with 403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3913632"/>
            <a:ext cx="4160520" cy="749808"/>
          </a:xfrm>
          <a:prstGeom prst="rect">
            <a:avLst/>
          </a:prstGeom>
          <a:solidFill>
            <a:srgbClr val="E0F2F1"/>
          </a:solidFill>
          <a:ln w="19050">
            <a:solidFill>
              <a:srgbClr val="0069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913632"/>
            <a:ext cx="256032" cy="74980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913632"/>
            <a:ext cx="256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3913632"/>
            <a:ext cx="3767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Validate that bills are created with correct amounts and linked to the right client and meter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1389888"/>
            <a:ext cx="4160520" cy="749808"/>
          </a:xfrm>
          <a:prstGeom prst="rect">
            <a:avLst/>
          </a:prstGeom>
          <a:solidFill>
            <a:srgbClr val="DCEEFB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1389888"/>
            <a:ext cx="256032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1389888"/>
            <a:ext cx="256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83480" y="1389888"/>
            <a:ext cx="3767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Confirm paying a bill updates BOTH the Payment collection and the Bill status simultaneously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2231136"/>
            <a:ext cx="4160520" cy="749808"/>
          </a:xfrm>
          <a:prstGeom prst="rect">
            <a:avLst/>
          </a:prstGeom>
          <a:solidFill>
            <a:srgbClr val="E0F2F1"/>
          </a:solidFill>
          <a:ln w="19050">
            <a:solidFill>
              <a:srgbClr val="0069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2231136"/>
            <a:ext cx="256032" cy="74980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2231136"/>
            <a:ext cx="256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83480" y="2231136"/>
            <a:ext cx="3767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Verify the client dashboard shows correct water usage, balance, and pending bill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3072384"/>
            <a:ext cx="4160520" cy="749808"/>
          </a:xfrm>
          <a:prstGeom prst="rect">
            <a:avLst/>
          </a:prstGeom>
          <a:solidFill>
            <a:srgbClr val="DCEEFB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3072384"/>
            <a:ext cx="256032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3072384"/>
            <a:ext cx="256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83480" y="3072384"/>
            <a:ext cx="3767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Ensure Docker containers start correctly and all 3 communicate with each other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63440" y="3913632"/>
            <a:ext cx="4160520" cy="749808"/>
          </a:xfrm>
          <a:prstGeom prst="rect">
            <a:avLst/>
          </a:prstGeom>
          <a:solidFill>
            <a:srgbClr val="E0F2F1"/>
          </a:solidFill>
          <a:ln w="19050">
            <a:solidFill>
              <a:srgbClr val="0069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3913632"/>
            <a:ext cx="256032" cy="74980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3913632"/>
            <a:ext cx="256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83480" y="3913632"/>
            <a:ext cx="3767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Confirm all data persists in MongoDB after containers are stopped and restarted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0" cy="804672"/>
          </a:xfrm>
          <a:prstGeom prst="rect">
            <a:avLst/>
          </a:prstGeom>
          <a:solidFill>
            <a:srgbClr val="0D3880"/>
          </a:solidFill>
          <a:ln w="12700">
            <a:solidFill>
              <a:srgbClr val="0D38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4.2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3120" y="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Features to be Tested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804672"/>
            <a:ext cx="9144000" cy="0"/>
          </a:xfrm>
          <a:prstGeom prst="line">
            <a:avLst/>
          </a:prstGeom>
          <a:noFill/>
          <a:ln w="38100">
            <a:solidFill>
              <a:srgbClr val="0069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868680"/>
            <a:ext cx="8778240" cy="384048"/>
          </a:xfrm>
          <a:prstGeom prst="rect">
            <a:avLst/>
          </a:prstGeom>
          <a:solidFill>
            <a:srgbClr val="1565C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686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20440" y="86868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Why it Must be Tested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" y="1289304"/>
            <a:ext cx="87782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28930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565C0"/>
                </a:solidFill>
              </a:rPr>
              <a:t>Client Registration &amp; Login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20440" y="1289304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12121"/>
                </a:solidFill>
              </a:rPr>
              <a:t>If this fails, no one can use the system at all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" y="1709928"/>
            <a:ext cx="8778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7099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565C0"/>
                </a:solidFill>
              </a:rPr>
              <a:t>JWT Authentication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20440" y="17099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12121"/>
                </a:solidFill>
              </a:rPr>
              <a:t>Without auth, anyone could access any data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2880" y="2130552"/>
            <a:ext cx="87782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1305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565C0"/>
                </a:solidFill>
              </a:rPr>
              <a:t>Role-Based Access Control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20440" y="213055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12121"/>
                </a:solidFill>
              </a:rPr>
              <a:t>Core security — clients must never access admin routes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2551176"/>
            <a:ext cx="8778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55117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565C0"/>
                </a:solidFill>
              </a:rPr>
              <a:t>Meter Reading Entry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20440" y="255117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12121"/>
                </a:solidFill>
              </a:rPr>
              <a:t>Wrong readings lead directly to wrong billing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2880" y="2971800"/>
            <a:ext cx="87782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29718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565C0"/>
                </a:solidFill>
              </a:rPr>
              <a:t>Bill Generation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20440" y="297180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12121"/>
                </a:solidFill>
              </a:rPr>
              <a:t>The entire revenue function depends on correct billing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82880" y="3392424"/>
            <a:ext cx="8778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339242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565C0"/>
                </a:solidFill>
              </a:rPr>
              <a:t>Bill Payment (MoMo / Airtel)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20440" y="3392424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12121"/>
                </a:solidFill>
              </a:rPr>
              <a:t>Primary feature clients use every single month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82880" y="3813048"/>
            <a:ext cx="87782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38130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565C0"/>
                </a:solidFill>
              </a:rPr>
              <a:t>Client Dashboard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520440" y="381304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12121"/>
                </a:solidFill>
              </a:rPr>
              <a:t>What clients see — must show correct usage and balance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82880" y="4233672"/>
            <a:ext cx="8778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42336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565C0"/>
                </a:solidFill>
              </a:rPr>
              <a:t>Account Suspend / Reconnect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520440" y="423367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12121"/>
                </a:solidFill>
              </a:rPr>
              <a:t>Enforces WASAC payment policy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82880" y="4654296"/>
            <a:ext cx="87782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032" y="465429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565C0"/>
                </a:solidFill>
              </a:rPr>
              <a:t>Docker Infrastructure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520440" y="465429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12121"/>
                </a:solidFill>
              </a:rPr>
              <a:t>Without working containers, nothing else works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0" cy="804672"/>
          </a:xfrm>
          <a:prstGeom prst="rect">
            <a:avLst/>
          </a:prstGeom>
          <a:solidFill>
            <a:srgbClr val="0D3880"/>
          </a:solidFill>
          <a:ln w="12700">
            <a:solidFill>
              <a:srgbClr val="0D38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4.3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3120" y="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Test Environment and Issue Tracking Tools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804672"/>
            <a:ext cx="9144000" cy="0"/>
          </a:xfrm>
          <a:prstGeom prst="line">
            <a:avLst/>
          </a:prstGeom>
          <a:noFill/>
          <a:ln w="38100">
            <a:solidFill>
              <a:srgbClr val="006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961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565C0"/>
                </a:solidFill>
              </a:rPr>
              <a:t>Test Environment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39319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344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65C0"/>
                </a:solidFill>
              </a:rPr>
              <a:t>Operating System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28800" y="12344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12121"/>
                </a:solidFill>
              </a:rPr>
              <a:t>Windows 11 (HP laptop)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655064"/>
            <a:ext cx="3931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5506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65C0"/>
                </a:solidFill>
              </a:rPr>
              <a:t>Docker Version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165506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12121"/>
                </a:solidFill>
              </a:rPr>
              <a:t>Docker Desktop 4.x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075688"/>
            <a:ext cx="39319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0756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65C0"/>
                </a:solidFill>
              </a:rPr>
              <a:t>Node.js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28800" y="207568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12121"/>
                </a:solidFill>
              </a:rPr>
              <a:t>v20 LTS (inside Docker container)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496312"/>
            <a:ext cx="3931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49631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65C0"/>
                </a:solidFill>
              </a:rPr>
              <a:t>Database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28800" y="24963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12121"/>
                </a:solidFill>
              </a:rPr>
              <a:t>MongoDB 7.0 (Docker image)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916936"/>
            <a:ext cx="39319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91693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65C0"/>
                </a:solidFill>
              </a:rPr>
              <a:t>Frontend URL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28800" y="291693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12121"/>
                </a:solidFill>
              </a:rPr>
              <a:t>http://localhost:8090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337560"/>
            <a:ext cx="3931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3375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65C0"/>
                </a:solidFill>
              </a:rPr>
              <a:t>API URL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28800" y="33375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12121"/>
                </a:solidFill>
              </a:rPr>
              <a:t>http://localhost:5000/api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3758184"/>
            <a:ext cx="39319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7581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65C0"/>
                </a:solidFill>
              </a:rPr>
              <a:t>Admin Login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828800" y="375818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12121"/>
                </a:solidFill>
              </a:rPr>
              <a:t>admin@wasac.rw / Admin1234!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4178808"/>
            <a:ext cx="3931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1788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565C0"/>
                </a:solidFill>
              </a:rPr>
              <a:t>Client Login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828800" y="41788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12121"/>
                </a:solidFill>
              </a:rPr>
              <a:t>alvin@gmail.com / Test1234!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63440" y="8961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695C"/>
                </a:solidFill>
              </a:rPr>
              <a:t>Issue Tracking Tools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63440" y="1234440"/>
            <a:ext cx="4206240" cy="777240"/>
          </a:xfrm>
          <a:prstGeom prst="rect">
            <a:avLst/>
          </a:prstGeom>
          <a:solidFill>
            <a:srgbClr val="E0F2F1"/>
          </a:solidFill>
          <a:ln w="19050">
            <a:solidFill>
              <a:srgbClr val="0069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1271016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695C"/>
                </a:solidFill>
              </a:rPr>
              <a:t>Postman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36592" y="1545336"/>
            <a:ext cx="4059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Shows HTTP status code and full response body for every API request — easy to see exactly what failed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63440" y="2103120"/>
            <a:ext cx="4206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9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36592" y="2139696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695C"/>
                </a:solidFill>
              </a:rPr>
              <a:t>Git commits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36592" y="2414016"/>
            <a:ext cx="4059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After fixing a bug, commit with a message like "Fixed: admin JWT blocking client tokens"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63440" y="2971800"/>
            <a:ext cx="4206240" cy="777240"/>
          </a:xfrm>
          <a:prstGeom prst="rect">
            <a:avLst/>
          </a:prstGeom>
          <a:solidFill>
            <a:srgbClr val="E0F2F1"/>
          </a:solidFill>
          <a:ln w="19050">
            <a:solidFill>
              <a:srgbClr val="0069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36592" y="3008376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695C"/>
                </a:solidFill>
              </a:rPr>
              <a:t>MongoDB Shell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36592" y="3282696"/>
            <a:ext cx="4059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Use db.bills.find() to verify data was saved correctly after each test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63440" y="3840480"/>
            <a:ext cx="4206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9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36592" y="3877056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695C"/>
                </a:solidFill>
              </a:rPr>
              <a:t>Docker Desktop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36592" y="4151376"/>
            <a:ext cx="4059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Container logs show error messages not visible in browser or Postman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0" cy="804672"/>
          </a:xfrm>
          <a:prstGeom prst="rect">
            <a:avLst/>
          </a:prstGeom>
          <a:solidFill>
            <a:srgbClr val="0D3880"/>
          </a:solidFill>
          <a:ln w="12700">
            <a:solidFill>
              <a:srgbClr val="0D38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4.4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3120" y="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Test Cases — Authentication (TC-01 to TC-07)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804672"/>
            <a:ext cx="9144000" cy="0"/>
          </a:xfrm>
          <a:prstGeom prst="line">
            <a:avLst/>
          </a:prstGeom>
          <a:noFill/>
          <a:ln w="38100">
            <a:solidFill>
              <a:srgbClr val="0069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868680"/>
            <a:ext cx="8778240" cy="475488"/>
          </a:xfrm>
          <a:prstGeom prst="rect">
            <a:avLst/>
          </a:prstGeom>
          <a:solidFill>
            <a:srgbClr val="1565C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686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TC#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8686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Test Case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0" y="86868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Input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92040" y="86868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Expected Result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183880" y="86868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Status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" y="1399032"/>
            <a:ext cx="877824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139903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5100"/>
                </a:solidFill>
              </a:rPr>
              <a:t>TC-01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77240" y="139903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Client registration valid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43200" y="139903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name, email, phone, meterId, password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92040" y="139903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201 Created + Account created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183880" y="139903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82880" y="1929384"/>
            <a:ext cx="8778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192938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5100"/>
                </a:solidFill>
              </a:rPr>
              <a:t>TC-02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77240" y="192938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Duplicate email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743200" y="192938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Already registered email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92040" y="1929384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400 + Email already registered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183880" y="1929384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82880" y="2459736"/>
            <a:ext cx="877824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245973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5100"/>
                </a:solidFill>
              </a:rPr>
              <a:t>TC-03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77240" y="245973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Client login valid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743200" y="245973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alvin@gmail.com / Test1234!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92040" y="2459736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200 OK + JWT token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183880" y="2459736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82880" y="2990088"/>
            <a:ext cx="8778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299008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5100"/>
                </a:solidFill>
              </a:rPr>
              <a:t>TC-04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77240" y="29900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Wrong password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743200" y="299008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Correct email, wrong password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92040" y="299008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401 Unauthorized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183880" y="299008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82880" y="3520440"/>
            <a:ext cx="877824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35204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5100"/>
                </a:solidFill>
              </a:rPr>
              <a:t>TC-05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77240" y="35204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Suspended account login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743200" y="35204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Suspended user credentials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92040" y="352044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403 Forbidden + Account suspended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183880" y="352044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82880" y="4050792"/>
            <a:ext cx="8778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8600" y="405079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5100"/>
                </a:solidFill>
              </a:rPr>
              <a:t>TC-06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77240" y="405079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Admin login valid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743200" y="405079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admin@wasac.rw / Admin1234!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92040" y="405079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200 OK + JWT role=admin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183880" y="405079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82880" y="4581144"/>
            <a:ext cx="877824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8600" y="458114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5100"/>
                </a:solidFill>
              </a:rPr>
              <a:t>TC-07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77240" y="458114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Admin wrong credentials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743200" y="458114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Wrong admin password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892040" y="4581144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401 Unauthorized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183880" y="4581144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0" cy="804672"/>
          </a:xfrm>
          <a:prstGeom prst="rect">
            <a:avLst/>
          </a:prstGeom>
          <a:solidFill>
            <a:srgbClr val="0D3880"/>
          </a:solidFill>
          <a:ln w="12700">
            <a:solidFill>
              <a:srgbClr val="0D38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4.5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3120" y="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Test Cases — Admin Management and Billing (TC-08 to TC-19)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804672"/>
            <a:ext cx="9144000" cy="0"/>
          </a:xfrm>
          <a:prstGeom prst="line">
            <a:avLst/>
          </a:prstGeom>
          <a:noFill/>
          <a:ln w="38100">
            <a:solidFill>
              <a:srgbClr val="0069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868680"/>
            <a:ext cx="8778240" cy="301752"/>
          </a:xfrm>
          <a:prstGeom prst="rect">
            <a:avLst/>
          </a:prstGeom>
          <a:solidFill>
            <a:srgbClr val="1565C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68680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TC#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868680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Test Case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794760" y="868680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Expected Result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86868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Status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" y="1207008"/>
            <a:ext cx="8778240" cy="301752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207008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5100"/>
                </a:solidFill>
              </a:rPr>
              <a:t>TC-08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" y="1207008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Add new client — valid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794760" y="1207008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201 Created + user + meter auto-created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138160" y="1207008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2880" y="1545336"/>
            <a:ext cx="87782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1545336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5100"/>
                </a:solidFill>
              </a:rPr>
              <a:t>TC-09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" y="1545336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Request with no JWT token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794760" y="1545336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401 Unauthorized — must login first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138160" y="1545336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82880" y="1883664"/>
            <a:ext cx="8778240" cy="301752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1883664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5100"/>
                </a:solidFill>
              </a:rPr>
              <a:t>TC-10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" y="1883664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Client JWT on admin route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794760" y="1883664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403 Forbidden — not an admin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138160" y="1883664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82880" y="2221992"/>
            <a:ext cx="87782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2221992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5100"/>
                </a:solidFill>
              </a:rPr>
              <a:t>TC-11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22960" y="2221992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Add meter reading — valid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794760" y="2221992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200 OK + Meter reading saved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138160" y="2221992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82880" y="2560320"/>
            <a:ext cx="8778240" cy="301752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2560320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5100"/>
                </a:solidFill>
              </a:rPr>
              <a:t>TC-12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2960" y="2560320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Update same month reading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794760" y="2560320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200 OK — old entry replaced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138160" y="256032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82880" y="2898648"/>
            <a:ext cx="87782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2898648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5100"/>
                </a:solidFill>
              </a:rPr>
              <a:t>TC-13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22960" y="2898648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Suspend client account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794760" y="2898648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200 OK + account and meter deactivated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138160" y="2898648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82880" y="3236976"/>
            <a:ext cx="8778240" cy="301752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8600" y="3236976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5100"/>
                </a:solidFill>
              </a:rPr>
              <a:t>TC-14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22960" y="3236976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Reconnect client account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794760" y="3236976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200 OK + account and meter reactivated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138160" y="3236976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82880" y="3575304"/>
            <a:ext cx="87782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8600" y="3575304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5100"/>
                </a:solidFill>
              </a:rPr>
              <a:t>TC-15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22960" y="3575304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Create bill — valid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794760" y="3575304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201 Created + bill object returned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138160" y="3575304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182880" y="3913632"/>
            <a:ext cx="8778240" cy="301752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28600" y="3913632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5100"/>
                </a:solidFill>
              </a:rPr>
              <a:t>TC-16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22960" y="3913632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Client views own bills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794760" y="3913632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200 OK + only that clients own bills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138160" y="3913632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82880" y="4251960"/>
            <a:ext cx="87782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28600" y="4251960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5100"/>
                </a:solidFill>
              </a:rPr>
              <a:t>TC-17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822960" y="4251960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Admin views all bills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3794760" y="4251960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200 OK + all bills with client names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8138160" y="425196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182880" y="4590288"/>
            <a:ext cx="8778240" cy="301752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28600" y="4590288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5100"/>
                </a:solidFill>
              </a:rPr>
              <a:t>TC-18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822960" y="4590288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Admin marks bill paid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3794760" y="4590288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200 OK + bill status changed to paid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138160" y="4590288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0" cy="804672"/>
          </a:xfrm>
          <a:prstGeom prst="rect">
            <a:avLst/>
          </a:prstGeom>
          <a:solidFill>
            <a:srgbClr val="0D3880"/>
          </a:solidFill>
          <a:ln w="12700">
            <a:solidFill>
              <a:srgbClr val="0D38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4.6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3120" y="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Test Cases — Payments and Docker Infrastructure (TC-20 to TC-32)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804672"/>
            <a:ext cx="9144000" cy="0"/>
          </a:xfrm>
          <a:prstGeom prst="line">
            <a:avLst/>
          </a:prstGeom>
          <a:noFill/>
          <a:ln w="38100">
            <a:solidFill>
              <a:srgbClr val="0069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868680"/>
            <a:ext cx="8778240" cy="301752"/>
          </a:xfrm>
          <a:prstGeom prst="rect">
            <a:avLst/>
          </a:prstGeom>
          <a:solidFill>
            <a:srgbClr val="1565C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68680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TC#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868680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Test Case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794760" y="868680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Expected Result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86868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Status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" y="1207008"/>
            <a:ext cx="8778240" cy="301752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207008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5100"/>
                </a:solidFill>
              </a:rPr>
              <a:t>TC-20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" y="1207008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Pay bill — MTN MoMo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794760" y="1207008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200 OK + EWMS-{timestamp} reference + bill=paid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138160" y="1207008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2880" y="1545336"/>
            <a:ext cx="87782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1545336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5100"/>
                </a:solidFill>
              </a:rPr>
              <a:t>TC-21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" y="1545336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Pay already-paid bill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794760" y="1545336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400 Bad Request + Bill already paid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138160" y="1545336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82880" y="1883664"/>
            <a:ext cx="8778240" cy="301752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1883664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5100"/>
                </a:solidFill>
              </a:rPr>
              <a:t>TC-22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" y="1883664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Pay with wrong bill ID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794760" y="1883664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404 Not Found + Bill not found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138160" y="1883664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82880" y="2221992"/>
            <a:ext cx="87782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2221992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5100"/>
                </a:solidFill>
              </a:rPr>
              <a:t>TC-23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22960" y="2221992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Pay bill — Airtel Money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794760" y="2221992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200 OK — method stored as airtel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138160" y="2221992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82880" y="2560320"/>
            <a:ext cx="8778240" cy="301752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2560320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5100"/>
                </a:solidFill>
              </a:rPr>
              <a:t>TC-24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2960" y="2560320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Client meter summary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794760" y="2560320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200 OK + usage, balance, pendingBill, monthlyUsage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138160" y="256032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82880" y="2898648"/>
            <a:ext cx="87782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2898648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5100"/>
                </a:solidFill>
              </a:rPr>
              <a:t>TC-25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22960" y="2898648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No meter linked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794760" y="2898648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404 Not Found + No meter linked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138160" y="2898648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82880" y="3236976"/>
            <a:ext cx="8778240" cy="301752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8600" y="3236976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5100"/>
                </a:solidFill>
              </a:rPr>
              <a:t>TC-26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22960" y="3236976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Admin stats endpoint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794760" y="3236976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200 OK + totalUsers, activeMeters, unpaidBills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138160" y="3236976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82880" y="3575304"/>
            <a:ext cx="87782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8600" y="3575304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5100"/>
                </a:solidFill>
              </a:rPr>
              <a:t>TC-27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22960" y="3575304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Admin meters list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794760" y="3575304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200 OK + all meters with client names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138160" y="3575304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182880" y="3913632"/>
            <a:ext cx="8778240" cy="301752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28600" y="3913632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5100"/>
                </a:solidFill>
              </a:rPr>
              <a:t>TC-28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22960" y="3913632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docker-compose up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794760" y="3913632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All 3 containers running green in Docker Desktop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138160" y="3913632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82880" y="4251960"/>
            <a:ext cx="877824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28600" y="4251960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5100"/>
                </a:solidFill>
              </a:rPr>
              <a:t>TC-29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822960" y="4251960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Backend health check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3794760" y="4251960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GET /health returns {"status":"ok"}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8138160" y="4251960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182880" y="4590288"/>
            <a:ext cx="8778240" cy="301752"/>
          </a:xfrm>
          <a:prstGeom prst="rect">
            <a:avLst/>
          </a:prstGeom>
          <a:solidFill>
            <a:srgbClr val="F5F5F5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28600" y="4590288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5100"/>
                </a:solidFill>
              </a:rPr>
              <a:t>TC-30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822960" y="4590288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Frontend serves login page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3794760" y="4590288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12121"/>
                </a:solidFill>
              </a:rPr>
              <a:t>localhost:8090/pages/login.html returns 200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138160" y="4590288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0" cy="804672"/>
          </a:xfrm>
          <a:prstGeom prst="rect">
            <a:avLst/>
          </a:prstGeom>
          <a:solidFill>
            <a:srgbClr val="0D3880"/>
          </a:solidFill>
          <a:ln w="12700">
            <a:solidFill>
              <a:srgbClr val="0D38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4.7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3120" y="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Validation Rules and Test Summary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804672"/>
            <a:ext cx="9144000" cy="0"/>
          </a:xfrm>
          <a:prstGeom prst="line">
            <a:avLst/>
          </a:prstGeom>
          <a:noFill/>
          <a:ln w="38100">
            <a:solidFill>
              <a:srgbClr val="006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565C0"/>
                </a:solidFill>
              </a:rPr>
              <a:t>Validation Rules Tested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4937760" cy="384048"/>
          </a:xfrm>
          <a:prstGeom prst="rect">
            <a:avLst/>
          </a:prstGeom>
          <a:solidFill>
            <a:srgbClr val="1565C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2344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Validation Rule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931920" y="12344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655064"/>
            <a:ext cx="493776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65506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Email must be unique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931920" y="165506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65100"/>
                </a:solidFill>
              </a:rPr>
              <a:t>TC-02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075688"/>
            <a:ext cx="4937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0756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Wrong password rejected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931920" y="207568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65100"/>
                </a:solidFill>
              </a:rPr>
              <a:t>TC-04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2496312"/>
            <a:ext cx="493776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4963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Suspended accounts blocked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931920" y="24963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65100"/>
                </a:solidFill>
              </a:rPr>
              <a:t>TC-05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2916936"/>
            <a:ext cx="4937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91693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Client JWT blocked on admin route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931920" y="291693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65100"/>
                </a:solidFill>
              </a:rPr>
              <a:t>TC-10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3337560"/>
            <a:ext cx="493776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33375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Paid bill cannot be paid again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931920" y="33375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65100"/>
                </a:solidFill>
              </a:rPr>
              <a:t>TC-21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3758184"/>
            <a:ext cx="4937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75818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Non-existent bill returns 404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931920" y="375818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65100"/>
                </a:solidFill>
              </a:rPr>
              <a:t>TC-22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4178808"/>
            <a:ext cx="493776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41788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Client sees only own bills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931920" y="41788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65100"/>
                </a:solidFill>
              </a:rPr>
              <a:t>TC-16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4599432"/>
            <a:ext cx="4937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45994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12121"/>
                </a:solidFill>
              </a:rPr>
              <a:t>Data persists after restart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931920" y="459943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65100"/>
                </a:solidFill>
              </a:rPr>
              <a:t>TC-31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669280" y="868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695C"/>
                </a:solidFill>
              </a:rPr>
              <a:t>Test Summary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669280" y="1234440"/>
            <a:ext cx="3200400" cy="384048"/>
          </a:xfrm>
          <a:prstGeom prst="rect">
            <a:avLst/>
          </a:prstGeom>
          <a:solidFill>
            <a:srgbClr val="1565C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42432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882128" y="1234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Tests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669280" y="1655064"/>
            <a:ext cx="32004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42432" y="16550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12121"/>
                </a:solidFill>
              </a:rPr>
              <a:t>Authentication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882128" y="165506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565C0"/>
                </a:solidFill>
              </a:rPr>
              <a:t>7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69280" y="2075688"/>
            <a:ext cx="3200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42432" y="20756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12121"/>
                </a:solidFill>
              </a:rPr>
              <a:t>Admin &amp; Meters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882128" y="20756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565C0"/>
                </a:solidFill>
              </a:rPr>
              <a:t>7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669280" y="2496312"/>
            <a:ext cx="32004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42432" y="24963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12121"/>
                </a:solidFill>
              </a:rPr>
              <a:t>Billing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882128" y="24963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565C0"/>
                </a:solidFill>
              </a:rPr>
              <a:t>5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669280" y="2916936"/>
            <a:ext cx="3200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42432" y="291693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12121"/>
                </a:solidFill>
              </a:rPr>
              <a:t>Payments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882128" y="291693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565C0"/>
                </a:solidFill>
              </a:rPr>
              <a:t>4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669280" y="3337560"/>
            <a:ext cx="32004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42432" y="33375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12121"/>
                </a:solidFill>
              </a:rPr>
              <a:t>Dashboard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882128" y="33375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565C0"/>
                </a:solidFill>
              </a:rPr>
              <a:t>4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669280" y="3758184"/>
            <a:ext cx="3200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42432" y="37581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12121"/>
                </a:solidFill>
              </a:rPr>
              <a:t>Docker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882128" y="375818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565C0"/>
                </a:solidFill>
              </a:rPr>
              <a:t>5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669280" y="4178808"/>
            <a:ext cx="3200400" cy="384048"/>
          </a:xfrm>
          <a:prstGeom prst="rect">
            <a:avLst/>
          </a:prstGeom>
          <a:solidFill>
            <a:srgbClr val="0D388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42432" y="41788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TOTAL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882128" y="41788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1633</Words>
  <Application>Microsoft Office PowerPoint</Application>
  <PresentationFormat>On-screen Show (16:9)</PresentationFormat>
  <Paragraphs>454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EWMS Phase 1 — System Analysis and Design</dc:title>
  <dc:subject>PptxGenJS Presentation</dc:subject>
  <dc:creator>PptxGenJS</dc:creator>
  <cp:lastModifiedBy>HP</cp:lastModifiedBy>
  <cp:revision>2</cp:revision>
  <dcterms:created xsi:type="dcterms:W3CDTF">2026-05-13T15:36:14Z</dcterms:created>
  <dcterms:modified xsi:type="dcterms:W3CDTF">2026-05-13T16:23:52Z</dcterms:modified>
</cp:coreProperties>
</file>